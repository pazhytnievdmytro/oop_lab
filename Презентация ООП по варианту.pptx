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1" r:id="rId4"/>
    <p:sldId id="260" r:id="rId5"/>
    <p:sldId id="262" r:id="rId6"/>
    <p:sldId id="263" r:id="rId7"/>
    <p:sldId id="264" r:id="rId8"/>
    <p:sldId id="265" r:id="rId9"/>
    <p:sldId id="266" r:id="rId10"/>
    <p:sldId id="267" r:id="rId11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AF93EF30-5E76-4E5E-BF74-0F82E75DF1A6}">
          <p14:sldIdLst>
            <p14:sldId id="258"/>
            <p14:sldId id="259"/>
            <p14:sldId id="261"/>
            <p14:sldId id="260"/>
            <p14:sldId id="262"/>
            <p14:sldId id="263"/>
            <p14:sldId id="264"/>
            <p14:sldId id="265"/>
            <p14:sldId id="266"/>
            <p14:sldId id="26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14" autoAdjust="0"/>
  </p:normalViewPr>
  <p:slideViewPr>
    <p:cSldViewPr>
      <p:cViewPr>
        <p:scale>
          <a:sx n="66" d="100"/>
          <a:sy n="66" d="100"/>
        </p:scale>
        <p:origin x="-1930" y="-787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05AD4-8B08-45F6-BA3F-49C1D3BC384F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01D6E-6D1C-41FC-9328-3F014F5FD0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4679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05AD4-8B08-45F6-BA3F-49C1D3BC384F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01D6E-6D1C-41FC-9328-3F014F5FD0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477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05AD4-8B08-45F6-BA3F-49C1D3BC384F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01D6E-6D1C-41FC-9328-3F014F5FD0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951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05AD4-8B08-45F6-BA3F-49C1D3BC384F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01D6E-6D1C-41FC-9328-3F014F5FD0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6447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05AD4-8B08-45F6-BA3F-49C1D3BC384F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01D6E-6D1C-41FC-9328-3F014F5FD0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9385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05AD4-8B08-45F6-BA3F-49C1D3BC384F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01D6E-6D1C-41FC-9328-3F014F5FD0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7966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05AD4-8B08-45F6-BA3F-49C1D3BC384F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01D6E-6D1C-41FC-9328-3F014F5FD0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2738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05AD4-8B08-45F6-BA3F-49C1D3BC384F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01D6E-6D1C-41FC-9328-3F014F5FD0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7067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05AD4-8B08-45F6-BA3F-49C1D3BC384F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01D6E-6D1C-41FC-9328-3F014F5FD0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369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05AD4-8B08-45F6-BA3F-49C1D3BC384F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01D6E-6D1C-41FC-9328-3F014F5FD0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7760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05AD4-8B08-45F6-BA3F-49C1D3BC384F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01D6E-6D1C-41FC-9328-3F014F5FD0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1105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405AD4-8B08-45F6-BA3F-49C1D3BC384F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01D6E-6D1C-41FC-9328-3F014F5FD0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2124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education.yandex.ru/handbook/algorithms/article/odnosvyaznyj-spisok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251520" y="1635646"/>
            <a:ext cx="660648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Односвязные списки </a:t>
            </a:r>
            <a:br>
              <a:rPr lang="ru-RU" sz="2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</a:br>
            <a:r>
              <a:rPr lang="ru-RU" sz="2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в объектно-ориентированном программировании</a:t>
            </a:r>
            <a:endParaRPr lang="ru-RU" sz="2800" dirty="0"/>
          </a:p>
        </p:txBody>
      </p:sp>
      <p:pic>
        <p:nvPicPr>
          <p:cNvPr id="8" name="Объект 7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44000" cy="5143500"/>
          </a:xfrm>
        </p:spPr>
      </p:pic>
      <p:sp>
        <p:nvSpPr>
          <p:cNvPr id="9" name="Прямоугольник 8"/>
          <p:cNvSpPr/>
          <p:nvPr/>
        </p:nvSpPr>
        <p:spPr>
          <a:xfrm>
            <a:off x="272520" y="1640612"/>
            <a:ext cx="639045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Односвязные списки </a:t>
            </a:r>
            <a:br>
              <a:rPr lang="ru-RU" sz="2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</a:br>
            <a:r>
              <a:rPr lang="ru-RU" sz="2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в объектно-ориентированном программировании</a:t>
            </a:r>
            <a:endParaRPr lang="ru-RU" sz="2800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272520" y="3025607"/>
            <a:ext cx="60276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Как появились, для чего используются и пр. </a:t>
            </a:r>
            <a:endParaRPr lang="ru-RU" sz="1600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1050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44000" cy="5143500"/>
          </a:xfr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sz="3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Введение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467544" y="915566"/>
            <a:ext cx="5112568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Односвязный список — это фундаментальная динамическая структура данных в объектно-ориентированном программировании, состоящая из последовательности узлов, где каждый узел содержит значение данных и указатель (ссылку) только на следующий </a:t>
            </a:r>
            <a:r>
              <a:rPr lang="ru-RU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узел. Структура отлично подходит для сценариев, где количество элементов заранее неизвестно или часто меняется. Узлы не требуют непрерывного блока памяти, что делает список устойчивым к фрагментации.</a:t>
            </a:r>
            <a:endParaRPr lang="ru-RU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6505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53"/>
            <a:ext cx="9144000" cy="5144454"/>
          </a:xfr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709587"/>
          </a:xfrm>
        </p:spPr>
        <p:txBody>
          <a:bodyPr>
            <a:normAutofit/>
          </a:bodyPr>
          <a:lstStyle/>
          <a:p>
            <a:r>
              <a:rPr lang="ru-RU" sz="3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Краткая история</a:t>
            </a:r>
            <a:endParaRPr lang="ru-RU" sz="3200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516844" y="987574"/>
            <a:ext cx="8159612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Односвязные списки возникли в 1950-1960-х годах с развитием высокоуровневых языков программирования, таких как </a:t>
            </a:r>
            <a:r>
              <a:rPr lang="ru-RU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Lisp</a:t>
            </a:r>
            <a:r>
              <a:rPr lang="ru-RU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, где они стали основой для рекурсивных структур и обработки символических выражений.</a:t>
            </a:r>
            <a:endParaRPr lang="ru-RU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/>
            </a:r>
            <a:br>
              <a:rPr lang="ru-RU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</a:br>
            <a:r>
              <a:rPr lang="ru-RU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Изначально списки использовались для символьных манипуляций и графов, а их популярность выросла с появлением структур данных в 1970-х. В ООП они интегрировались в </a:t>
            </a:r>
            <a:r>
              <a:rPr lang="ru-RU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Java</a:t>
            </a:r>
            <a:r>
              <a:rPr lang="ru-RU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и C++.</a:t>
            </a:r>
            <a:endParaRPr lang="ru-RU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4269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53"/>
            <a:ext cx="9144000" cy="5144454"/>
          </a:xfr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23478"/>
            <a:ext cx="8229600" cy="720080"/>
          </a:xfrm>
        </p:spPr>
        <p:txBody>
          <a:bodyPr>
            <a:normAutofit/>
          </a:bodyPr>
          <a:lstStyle/>
          <a:p>
            <a:r>
              <a:rPr lang="ru-RU" sz="3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Структура</a:t>
            </a:r>
            <a:endParaRPr lang="ru-RU" sz="3200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480655" y="915566"/>
            <a:ext cx="820891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Каждый узел односвязного списка — это объект с двумя полями: данными (</a:t>
            </a:r>
            <a:r>
              <a:rPr lang="ru-RU" sz="1600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data</a:t>
            </a:r>
            <a:r>
              <a:rPr lang="ru-RU" sz="1600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любого типа) и указателем </a:t>
            </a:r>
            <a:r>
              <a:rPr lang="ru-RU" sz="1600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next</a:t>
            </a:r>
            <a:r>
              <a:rPr lang="ru-RU" sz="1600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на следующий узел, что обеспечивает линейную связь без доступа к предыдущему. Голова (</a:t>
            </a:r>
            <a:r>
              <a:rPr lang="ru-RU" sz="1600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head</a:t>
            </a:r>
            <a:r>
              <a:rPr lang="ru-RU" sz="1600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 — входная точка для операций, хвост (</a:t>
            </a:r>
            <a:r>
              <a:rPr lang="ru-RU" sz="1600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tail</a:t>
            </a:r>
            <a:r>
              <a:rPr lang="ru-RU" sz="1600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 упрощает добавление в конец, ссылаясь на </a:t>
            </a:r>
            <a:r>
              <a:rPr lang="ru-RU" sz="1600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null</a:t>
            </a:r>
            <a:r>
              <a:rPr lang="ru-RU" sz="1600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для завершения.</a:t>
            </a:r>
            <a:endParaRPr lang="ru-RU" sz="1600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2050" name="Picture 2" descr="C:\Users\Dimazzz\Desktop\image008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4961" y="2643758"/>
            <a:ext cx="5934075" cy="1914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5603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475"/>
            <a:ext cx="9145445" cy="5145267"/>
          </a:xfr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23478"/>
            <a:ext cx="8229600" cy="857250"/>
          </a:xfr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Реализация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990" y="1275606"/>
            <a:ext cx="4063994" cy="10184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323528" y="890305"/>
            <a:ext cx="88204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Вот так </a:t>
            </a:r>
            <a:r>
              <a:rPr lang="ru-RU" sz="16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выглядит реализация узла</a:t>
            </a:r>
            <a:r>
              <a:rPr lang="en-US" sz="1600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:</a:t>
            </a:r>
            <a:r>
              <a:rPr lang="ru-RU" sz="1600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endParaRPr lang="ru-RU" sz="1600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507" y="3402747"/>
            <a:ext cx="4063994" cy="12368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323528" y="2571750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ru-RU" sz="1600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sz="1600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А это реализация односвязного списка</a:t>
            </a:r>
            <a:r>
              <a:rPr lang="en-US" sz="1600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:</a:t>
            </a:r>
            <a:endParaRPr lang="ru-RU" sz="1600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4564569" y="890305"/>
            <a:ext cx="4572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sz="1400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В </a:t>
            </a:r>
            <a:r>
              <a:rPr lang="ru-RU" sz="1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узле есть: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ru-RU" sz="1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Значение, которое будет задавать пользователь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ru-RU" sz="1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Указатель на следующий элемент (по умолчанию </a:t>
            </a:r>
            <a:r>
              <a:rPr lang="ru-RU" sz="1400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nullptr</a:t>
            </a:r>
            <a:r>
              <a:rPr lang="ru-RU" sz="1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ru-RU" sz="1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Конструктор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4572000" y="3402747"/>
            <a:ext cx="4572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sz="1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В списке </a:t>
            </a:r>
            <a:r>
              <a:rPr lang="ru-RU" sz="1400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есть:</a:t>
            </a:r>
            <a:endParaRPr lang="ru-RU" sz="1400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ru-RU" sz="1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Указатель на первый узел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ru-RU" sz="1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Указатель на последний узел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ru-RU" sz="14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Конструктор</a:t>
            </a:r>
          </a:p>
        </p:txBody>
      </p:sp>
    </p:spTree>
    <p:extLst>
      <p:ext uri="{BB962C8B-B14F-4D97-AF65-F5344CB8AC3E}">
        <p14:creationId xmlns:p14="http://schemas.microsoft.com/office/powerpoint/2010/main" val="1316964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7" y="-954"/>
            <a:ext cx="9144000" cy="5144454"/>
          </a:xfr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648072"/>
          </a:xfrm>
        </p:spPr>
        <p:txBody>
          <a:bodyPr>
            <a:noAutofit/>
          </a:bodyPr>
          <a:lstStyle/>
          <a:p>
            <a:r>
              <a:rPr lang="ru-RU" sz="2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В чём его отличие от массива</a:t>
            </a:r>
            <a:r>
              <a:rPr lang="en-US" sz="2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?</a:t>
            </a:r>
            <a:endParaRPr lang="ru-RU" sz="2800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395536" y="1002090"/>
            <a:ext cx="842493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В отличие от классического массива, где данные в памяти расположены строго последовательно, в односвязном списке, наоборот, данные расположены хаотично и связывание узлов списка происходит посредством ссылок. За счёт этой особенности в односвязный список можно добавлять произвольное число элементов, однако доступ будет осуществляться только последовательно. Произвольного доступа к элементам в односвязном списке нет.</a:t>
            </a:r>
          </a:p>
        </p:txBody>
      </p:sp>
    </p:spTree>
    <p:extLst>
      <p:ext uri="{BB962C8B-B14F-4D97-AF65-F5344CB8AC3E}">
        <p14:creationId xmlns:p14="http://schemas.microsoft.com/office/powerpoint/2010/main" val="691305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53"/>
            <a:ext cx="9144000" cy="5144454"/>
          </a:xfr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Таблица сравнения с другими данными</a:t>
            </a:r>
            <a:endParaRPr lang="ru-RU" sz="2800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4813000"/>
              </p:ext>
            </p:extLst>
          </p:nvPr>
        </p:nvGraphicFramePr>
        <p:xfrm>
          <a:off x="964124" y="1181918"/>
          <a:ext cx="7215752" cy="3430540"/>
        </p:xfrm>
        <a:graphic>
          <a:graphicData uri="http://schemas.openxmlformats.org/drawingml/2006/table">
            <a:tbl>
              <a:tblPr/>
              <a:tblGrid>
                <a:gridCol w="1803938"/>
                <a:gridCol w="1803938"/>
                <a:gridCol w="1803938"/>
                <a:gridCol w="1803938"/>
              </a:tblGrid>
              <a:tr h="587950"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solidFill>
                            <a:schemeClr val="tx1"/>
                          </a:solidFill>
                          <a:effectLst/>
                        </a:rPr>
                        <a:t>Характеристика</a:t>
                      </a:r>
                    </a:p>
                  </a:txBody>
                  <a:tcPr marL="53450" marR="53450" marT="53450" marB="5345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solidFill>
                            <a:schemeClr val="tx1"/>
                          </a:solidFill>
                          <a:effectLst/>
                        </a:rPr>
                        <a:t>Односвязный список</a:t>
                      </a:r>
                    </a:p>
                  </a:txBody>
                  <a:tcPr marL="53450" marR="53450" marT="53450" marB="5345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 smtClean="0">
                          <a:solidFill>
                            <a:schemeClr val="tx1"/>
                          </a:solidFill>
                          <a:effectLst/>
                        </a:rPr>
                        <a:t>Массив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3450" marR="53450" marT="53450" marB="5345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solidFill>
                            <a:schemeClr val="tx1"/>
                          </a:solidFill>
                          <a:effectLst/>
                        </a:rPr>
                        <a:t>Двусвязный список</a:t>
                      </a:r>
                    </a:p>
                  </a:txBody>
                  <a:tcPr marL="53450" marR="53450" marT="53450" marB="5345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87950"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</a:rPr>
                        <a:t>Доступ по индексу</a:t>
                      </a:r>
                    </a:p>
                  </a:txBody>
                  <a:tcPr marL="53450" marR="53450" marT="53450" marB="5345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</a:rPr>
                        <a:t>O(n) 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</a:rPr>
                        <a:t>последовательный</a:t>
                      </a:r>
                    </a:p>
                  </a:txBody>
                  <a:tcPr marL="53450" marR="53450" marT="53450" marB="5345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</a:rPr>
                        <a:t>O(1) </a:t>
                      </a:r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</a:rPr>
                        <a:t>прямой</a:t>
                      </a:r>
                    </a:p>
                  </a:txBody>
                  <a:tcPr marL="53450" marR="53450" marT="53450" marB="5345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</a:rPr>
                        <a:t>O(n)</a:t>
                      </a:r>
                    </a:p>
                  </a:txBody>
                  <a:tcPr marL="53450" marR="53450" marT="53450" marB="5345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7950"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</a:rPr>
                        <a:t>Вставка начало/конец</a:t>
                      </a:r>
                    </a:p>
                  </a:txBody>
                  <a:tcPr marL="53450" marR="53450" marT="53450" marB="5345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</a:rPr>
                        <a:t>O(1) </a:t>
                      </a:r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</a:rPr>
                        <a:t>с </a:t>
                      </a:r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</a:rPr>
                        <a:t>tail</a:t>
                      </a:r>
                    </a:p>
                  </a:txBody>
                  <a:tcPr marL="53450" marR="53450" marT="53450" marB="5345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</a:rPr>
                        <a:t>O(n) </a:t>
                      </a:r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</a:rPr>
                        <a:t>сдвиг</a:t>
                      </a:r>
                    </a:p>
                  </a:txBody>
                  <a:tcPr marL="53450" marR="53450" marT="53450" marB="5345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</a:rPr>
                        <a:t>O(1) bidirectional</a:t>
                      </a:r>
                    </a:p>
                  </a:txBody>
                  <a:tcPr marL="53450" marR="53450" marT="53450" marB="5345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25"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</a:rPr>
                        <a:t>Удаление</a:t>
                      </a:r>
                    </a:p>
                  </a:txBody>
                  <a:tcPr marL="53450" marR="53450" marT="53450" marB="5345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</a:rPr>
                        <a:t>O(n) </a:t>
                      </a:r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</a:rPr>
                        <a:t>поиск</a:t>
                      </a:r>
                    </a:p>
                  </a:txBody>
                  <a:tcPr marL="53450" marR="53450" marT="53450" marB="5345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</a:rPr>
                        <a:t>O(n) </a:t>
                      </a:r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</a:rPr>
                        <a:t>сдвиг</a:t>
                      </a:r>
                    </a:p>
                  </a:txBody>
                  <a:tcPr marL="53450" marR="53450" marT="53450" marB="5345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</a:rPr>
                        <a:t>O(1) </a:t>
                      </a:r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</a:rPr>
                        <a:t>с </a:t>
                      </a:r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</a:rPr>
                        <a:t>prev/next</a:t>
                      </a:r>
                    </a:p>
                  </a:txBody>
                  <a:tcPr marL="53450" marR="53450" marT="53450" marB="5345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25"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</a:rPr>
                        <a:t>Память на элемент</a:t>
                      </a:r>
                    </a:p>
                  </a:txBody>
                  <a:tcPr marL="53450" marR="53450" marT="53450" marB="5345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</a:rPr>
                        <a:t>data + 1 </a:t>
                      </a:r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</a:rPr>
                        <a:t>указатель</a:t>
                      </a:r>
                    </a:p>
                  </a:txBody>
                  <a:tcPr marL="53450" marR="53450" marT="53450" marB="5345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</a:rPr>
                        <a:t>data</a:t>
                      </a:r>
                    </a:p>
                  </a:txBody>
                  <a:tcPr marL="53450" marR="53450" marT="53450" marB="5345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</a:rPr>
                        <a:t>data + 2 </a:t>
                      </a:r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</a:rPr>
                        <a:t>указателя</a:t>
                      </a:r>
                    </a:p>
                  </a:txBody>
                  <a:tcPr marL="53450" marR="53450" marT="53450" marB="5345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7950"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</a:rPr>
                        <a:t>Кэш-дружественность</a:t>
                      </a:r>
                    </a:p>
                  </a:txBody>
                  <a:tcPr marL="53450" marR="53450" marT="53450" marB="5345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</a:rPr>
                        <a:t>Низкая (разрозненно)</a:t>
                      </a:r>
                    </a:p>
                  </a:txBody>
                  <a:tcPr marL="53450" marR="53450" marT="53450" marB="5345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</a:rPr>
                        <a:t>Высокая</a:t>
                      </a:r>
                    </a:p>
                  </a:txBody>
                  <a:tcPr marL="53450" marR="53450" marT="53450" marB="5345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</a:rPr>
                        <a:t>Средняя</a:t>
                      </a:r>
                    </a:p>
                  </a:txBody>
                  <a:tcPr marL="53450" marR="53450" marT="53450" marB="5345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25"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</a:rPr>
                        <a:t>Итерация</a:t>
                      </a:r>
                    </a:p>
                  </a:txBody>
                  <a:tcPr marL="53450" marR="53450" marT="53450" marB="5345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</a:rPr>
                        <a:t>Только вперед</a:t>
                      </a:r>
                    </a:p>
                  </a:txBody>
                  <a:tcPr marL="53450" marR="53450" marT="53450" marB="5345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chemeClr val="bg1"/>
                          </a:solidFill>
                          <a:effectLst/>
                        </a:rPr>
                        <a:t>Полная</a:t>
                      </a:r>
                    </a:p>
                  </a:txBody>
                  <a:tcPr marL="53450" marR="53450" marT="53450" marB="5345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solidFill>
                            <a:schemeClr val="bg1"/>
                          </a:solidFill>
                          <a:effectLst/>
                        </a:rPr>
                        <a:t>В обе стороны</a:t>
                      </a:r>
                    </a:p>
                  </a:txBody>
                  <a:tcPr marL="53450" marR="53450" marT="53450" marB="5345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7095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4454"/>
          </a:xfr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1059582"/>
            <a:ext cx="4323928" cy="4320480"/>
          </a:xfrm>
        </p:spPr>
        <p:txBody>
          <a:bodyPr>
            <a:normAutofit/>
          </a:bodyPr>
          <a:lstStyle/>
          <a:p>
            <a:pPr algn="l"/>
            <a:r>
              <a:rPr lang="ru-RU" sz="22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/>
            </a:r>
            <a:br>
              <a:rPr lang="ru-RU" sz="22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</a:b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0" y="323404"/>
            <a:ext cx="4572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Преимущества</a:t>
            </a:r>
            <a:endParaRPr lang="ru-RU" sz="2000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4575448" y="338793"/>
            <a:ext cx="456855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Недостатки</a:t>
            </a:r>
            <a:endParaRPr lang="ru-RU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4647456" y="0"/>
            <a:ext cx="0" cy="51435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Прямоугольник 18"/>
          <p:cNvSpPr/>
          <p:nvPr/>
        </p:nvSpPr>
        <p:spPr>
          <a:xfrm>
            <a:off x="4659888" y="771550"/>
            <a:ext cx="4473064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ru-RU" sz="16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Нельзя быстро получить доступ к произвольному элементу списка — нужно проходить все элементы последовательно, начиная с головы</a:t>
            </a:r>
            <a:r>
              <a:rPr lang="ru-RU" sz="1600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.</a:t>
            </a:r>
          </a:p>
          <a:p>
            <a:pPr marL="285750" indent="-285750">
              <a:buFont typeface="Wingdings" pitchFamily="2" charset="2"/>
              <a:buChar char="v"/>
            </a:pPr>
            <a:endParaRPr lang="ru-RU" sz="1600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ru-RU" sz="16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Занимают дополнительную память под указатели на следующий элемент</a:t>
            </a:r>
            <a:r>
              <a:rPr lang="ru-RU" sz="1600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.</a:t>
            </a:r>
          </a:p>
          <a:p>
            <a:pPr marL="285750" indent="-285750">
              <a:buFont typeface="Wingdings" pitchFamily="2" charset="2"/>
              <a:buChar char="v"/>
            </a:pPr>
            <a:endParaRPr lang="ru-RU" sz="1600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ru-RU" sz="16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Менее эффективны при задачах, где важен быстрый произвольный доступ к элементам, например, по индексу.</a:t>
            </a:r>
          </a:p>
        </p:txBody>
      </p:sp>
      <p:sp>
        <p:nvSpPr>
          <p:cNvPr id="20" name="Прямоугольник 19"/>
          <p:cNvSpPr/>
          <p:nvPr/>
        </p:nvSpPr>
        <p:spPr>
          <a:xfrm>
            <a:off x="188496" y="771550"/>
            <a:ext cx="4383504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ru-RU" sz="16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Позволяют легко добавлять и удалять элементы в любое время, без необходимости передвигать другие данные, что удобно при динамическом изменении количества элементов</a:t>
            </a:r>
            <a:r>
              <a:rPr lang="ru-RU" sz="1600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.</a:t>
            </a:r>
          </a:p>
          <a:p>
            <a:pPr marL="285750" indent="-285750">
              <a:buFont typeface="Wingdings" pitchFamily="2" charset="2"/>
              <a:buChar char="v"/>
            </a:pPr>
            <a:endParaRPr lang="ru-RU" sz="1600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ru-RU" sz="16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Не требуют выделения большого непрерывного блока памяти, можно хранить данные в разных местах, что помогает эффективно использовать память</a:t>
            </a:r>
            <a:r>
              <a:rPr lang="ru-RU" sz="1600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.</a:t>
            </a:r>
          </a:p>
          <a:p>
            <a:pPr marL="285750" indent="-285750">
              <a:buFont typeface="Wingdings" pitchFamily="2" charset="2"/>
              <a:buChar char="v"/>
            </a:pPr>
            <a:endParaRPr lang="ru-RU" sz="1600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ru-RU" sz="1600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Просты в реализации и хорошо подходят для таких структур, как стеки и очереди.</a:t>
            </a:r>
          </a:p>
        </p:txBody>
      </p:sp>
    </p:spTree>
    <p:extLst>
      <p:ext uri="{BB962C8B-B14F-4D97-AF65-F5344CB8AC3E}">
        <p14:creationId xmlns:p14="http://schemas.microsoft.com/office/powerpoint/2010/main" val="3441257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44000" cy="5143500"/>
          </a:xfr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sz="3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Вывод</a:t>
            </a:r>
            <a:endParaRPr lang="ru-RU" sz="32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395536" y="915566"/>
            <a:ext cx="5616624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Односвязный список — ключевая динамическая структура в </a:t>
            </a:r>
            <a:r>
              <a:rPr lang="ru-RU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ООП, которую лучше </a:t>
            </a:r>
            <a:r>
              <a:rPr lang="ru-RU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всего применять в ситуациях, где нужно часто добавлять или удалять элементы, а размер данных заранее неизвестен — например, при реализации стеков, очередей, истории действий в приложениях или списков задач в многозадачных системах. </a:t>
            </a:r>
            <a:r>
              <a:rPr lang="ru-RU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Они особенно удобны </a:t>
            </a:r>
            <a:r>
              <a:rPr lang="ru-RU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для потоковой обработки информации, </a:t>
            </a:r>
            <a:r>
              <a:rPr lang="ru-RU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парсинга</a:t>
            </a:r>
            <a:r>
              <a:rPr lang="ru-RU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текстов или моделирования путей в играх, где важна гибкость и простота изменений без перемещения данных.</a:t>
            </a:r>
            <a:endParaRPr lang="ru-RU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6931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53"/>
            <a:ext cx="9144000" cy="5144454"/>
          </a:xfr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Источники</a:t>
            </a:r>
            <a:endParaRPr lang="ru-RU" sz="3200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95536" y="987574"/>
            <a:ext cx="835292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hlinkClick r:id="rId3"/>
              </a:rPr>
              <a:t>https://education.yandex.ru/handbook/algorithms/article/odnosvyaznyj-spisok</a:t>
            </a:r>
            <a:r>
              <a:rPr lang="ru-RU" dirty="0" smtClean="0">
                <a:solidFill>
                  <a:schemeClr val="bg1"/>
                </a:solidFill>
              </a:rPr>
              <a:t/>
            </a:r>
            <a:br>
              <a:rPr lang="ru-RU" dirty="0" smtClean="0">
                <a:solidFill>
                  <a:schemeClr val="bg1"/>
                </a:solidFill>
              </a:rPr>
            </a:br>
            <a:r>
              <a:rPr lang="ru-RU" dirty="0" smtClean="0">
                <a:solidFill>
                  <a:schemeClr val="bg1"/>
                </a:solidFill>
              </a:rPr>
              <a:t/>
            </a:r>
            <a:br>
              <a:rPr lang="ru-RU" dirty="0" smtClean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https://habr.com/ru/articles/717572/</a:t>
            </a:r>
            <a:r>
              <a:rPr lang="ru-RU" dirty="0" smtClean="0">
                <a:solidFill>
                  <a:schemeClr val="bg1"/>
                </a:solidFill>
              </a:rPr>
              <a:t/>
            </a:r>
            <a:br>
              <a:rPr lang="ru-RU" dirty="0" smtClean="0">
                <a:solidFill>
                  <a:schemeClr val="bg1"/>
                </a:solidFill>
              </a:rPr>
            </a:br>
            <a:r>
              <a:rPr lang="ru-RU" dirty="0" smtClean="0">
                <a:solidFill>
                  <a:schemeClr val="bg1"/>
                </a:solidFill>
              </a:rPr>
              <a:t/>
            </a:r>
            <a:br>
              <a:rPr lang="ru-RU" dirty="0" smtClean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https://habr.com/ru/sandbox/153128</a:t>
            </a:r>
            <a:r>
              <a:rPr lang="en-US" dirty="0" smtClean="0">
                <a:solidFill>
                  <a:schemeClr val="bg1"/>
                </a:solidFill>
              </a:rPr>
              <a:t>/</a:t>
            </a:r>
            <a:r>
              <a:rPr lang="ru-RU" dirty="0" smtClean="0">
                <a:solidFill>
                  <a:schemeClr val="bg1"/>
                </a:solidFill>
              </a:rPr>
              <a:t/>
            </a:r>
            <a:br>
              <a:rPr lang="ru-RU" dirty="0" smtClean="0">
                <a:solidFill>
                  <a:schemeClr val="bg1"/>
                </a:solidFill>
              </a:rPr>
            </a:br>
            <a:r>
              <a:rPr lang="ru-RU" dirty="0" smtClean="0">
                <a:solidFill>
                  <a:schemeClr val="bg1"/>
                </a:solidFill>
              </a:rPr>
              <a:t/>
            </a:r>
            <a:br>
              <a:rPr lang="ru-RU" dirty="0" smtClean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https://foxminded.ua/ru/svyaznii-spisok-python/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09823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537</Words>
  <Application>Microsoft Office PowerPoint</Application>
  <PresentationFormat>Экран (16:9)</PresentationFormat>
  <Paragraphs>70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Тема Office</vt:lpstr>
      <vt:lpstr>Презентация PowerPoint</vt:lpstr>
      <vt:lpstr>Введение</vt:lpstr>
      <vt:lpstr>Краткая история</vt:lpstr>
      <vt:lpstr>Структура</vt:lpstr>
      <vt:lpstr>Реализация</vt:lpstr>
      <vt:lpstr>В чём его отличие от массива?</vt:lpstr>
      <vt:lpstr>Таблица сравнения с другими данными</vt:lpstr>
      <vt:lpstr>  </vt:lpstr>
      <vt:lpstr>Вывод</vt:lpstr>
      <vt:lpstr>Источники</vt:lpstr>
    </vt:vector>
  </TitlesOfParts>
  <Company>SPecialiST RePack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Односвязные списки  в объектно-ориентированном программировании</dc:title>
  <dc:creator>Dimazzz</dc:creator>
  <cp:lastModifiedBy>Dimazzz</cp:lastModifiedBy>
  <cp:revision>17</cp:revision>
  <dcterms:created xsi:type="dcterms:W3CDTF">2025-11-29T08:51:33Z</dcterms:created>
  <dcterms:modified xsi:type="dcterms:W3CDTF">2025-11-29T14:07:06Z</dcterms:modified>
</cp:coreProperties>
</file>