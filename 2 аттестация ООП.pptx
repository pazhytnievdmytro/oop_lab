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703" autoAdjust="0"/>
  </p:normalViewPr>
  <p:slideViewPr>
    <p:cSldViewPr>
      <p:cViewPr>
        <p:scale>
          <a:sx n="100" d="100"/>
          <a:sy n="100" d="100"/>
        </p:scale>
        <p:origin x="-946" y="-2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688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57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90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7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52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26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5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23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70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24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3916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976F2-C88F-4D8B-9B70-4C89617E2615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3F737-50D1-4385-8F78-4430C7070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01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denet.ru/progr/cpp/ipn.php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ava-online.ru/java-oop.x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333971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Презентация на тему </a:t>
            </a:r>
            <a:r>
              <a:rPr lang="en-US" dirty="0" smtClean="0">
                <a:solidFill>
                  <a:schemeClr val="bg1"/>
                </a:solidFill>
                <a:latin typeface="Bahnschrift SemiBold Condensed" pitchFamily="34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hnschrift SemiBold Condensed" pitchFamily="34" charset="0"/>
              </a:rPr>
            </a:br>
            <a:r>
              <a:rPr lang="en-US" dirty="0" smtClean="0">
                <a:solidFill>
                  <a:schemeClr val="bg1"/>
                </a:solidFill>
                <a:latin typeface="Bahnschrift SemiBold Condensed" pitchFamily="34" charset="0"/>
              </a:rPr>
              <a:t>“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Инкапсуляция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, наследование и 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полиморфизм в С++</a:t>
            </a:r>
            <a:r>
              <a:rPr lang="en-US" dirty="0" smtClean="0">
                <a:solidFill>
                  <a:schemeClr val="bg1"/>
                </a:solidFill>
                <a:latin typeface="Bahnschrift SemiBold Condensed" pitchFamily="34" charset="0"/>
              </a:rPr>
              <a:t>”</a:t>
            </a:r>
            <a:endParaRPr lang="ru-RU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147814"/>
            <a:ext cx="6400800" cy="576064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Bahnschrift SemiBold Condensed" pitchFamily="34" charset="0"/>
              </a:rPr>
              <a:t>Основные принципы ООП, и зачем они нужны</a:t>
            </a:r>
            <a:endParaRPr lang="ru-RU" sz="2400" dirty="0">
              <a:solidFill>
                <a:schemeClr val="tx2">
                  <a:lumMod val="40000"/>
                  <a:lumOff val="60000"/>
                </a:schemeClr>
              </a:solidFill>
              <a:latin typeface="Bahnschrift SemiBold Condens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106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bg1"/>
                </a:solidFill>
                <a:latin typeface="Bahnschrift SemiBold Condensed" pitchFamily="34" charset="0"/>
              </a:rPr>
              <a:t>Введение</a:t>
            </a:r>
            <a:endParaRPr lang="ru-RU" sz="3200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23528" y="1131590"/>
            <a:ext cx="84969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Объектно-ориентированное программирование (ООП) — парадигма, где код строится вокруг объектов, сочетающих данные и поведение. 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ООП основано на трёх основополагающих концепциях 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— инкапсуляция, наследование и 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полиморфизм. Их задача заключается в том, чтобы решать 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проблемы повторяемости, безопасности и гибкости кода.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​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Они 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упрощают разработку сложных систем, делая код модульным и легким в поддержке. Применение этих принципов ускоряет командную работу и снижает количество ошибок.</a:t>
            </a:r>
          </a:p>
        </p:txBody>
      </p:sp>
    </p:spTree>
    <p:extLst>
      <p:ext uri="{BB962C8B-B14F-4D97-AF65-F5344CB8AC3E}">
        <p14:creationId xmlns:p14="http://schemas.microsoft.com/office/powerpoint/2010/main" val="2633904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Что такое инкапсуляция</a:t>
            </a:r>
            <a:r>
              <a:rPr lang="en-US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?</a:t>
            </a:r>
            <a:endParaRPr lang="ru-RU" sz="2800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140589"/>
            <a:ext cx="84969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Инкапсуляция (</a:t>
            </a:r>
            <a:r>
              <a:rPr lang="ru-RU" dirty="0" err="1" smtClean="0">
                <a:solidFill>
                  <a:schemeClr val="bg1"/>
                </a:solidFill>
                <a:latin typeface="Bahnschrift SemiBold Condensed" pitchFamily="34" charset="0"/>
              </a:rPr>
              <a:t>encapsulation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) - это механизм, который объединяет данные и код, манипулирующий </a:t>
            </a:r>
            <a:r>
              <a:rPr lang="ru-RU" dirty="0" err="1" smtClean="0">
                <a:solidFill>
                  <a:schemeClr val="bg1"/>
                </a:solidFill>
                <a:latin typeface="Bahnschrift SemiBold Condensed" pitchFamily="34" charset="0"/>
              </a:rPr>
              <a:t>зтими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 данными, а также защищает и то, и другое от внешнего вмешательства или неправильного использования. В объектно-ориентированном программировании код и данные могут быть объединены вместе; в этом случае говорят, что создаётся так называемый "чёрный ящик". Когда коды и данные объединяются таким способом, создаётся объект (</a:t>
            </a:r>
            <a:r>
              <a:rPr lang="ru-RU" dirty="0" err="1" smtClean="0">
                <a:solidFill>
                  <a:schemeClr val="bg1"/>
                </a:solidFill>
                <a:latin typeface="Bahnschrift SemiBold Condensed" pitchFamily="34" charset="0"/>
              </a:rPr>
              <a:t>object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). Другими словами, объект - это то, что поддерживает инкапсуляцию.</a:t>
            </a:r>
            <a:endParaRPr lang="ru-RU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23528" y="2859782"/>
            <a:ext cx="8496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Внутри объекта коды и данные могут быть закрытыми. Они доступны только для других частей объекта. Другими словами, недоступны для тех частей программы, которые существуют вне объекта.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Если коды и данные являются открытыми, то, несмотря на то, что они заданы внутри объекта, они доступны и для других частей программы.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Объект является переменной определённого пользователем типа. Каждый элемент данных такого типа является составной переменной.</a:t>
            </a:r>
            <a:endParaRPr lang="ru-RU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967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Пример работы инкапсуляции</a:t>
            </a:r>
            <a:endParaRPr lang="ru-RU" sz="2800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7614"/>
            <a:ext cx="4230216" cy="3066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004048" y="1726904"/>
            <a:ext cx="4032448" cy="23083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Класс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BankAccount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 скрывает внутренние данные (поле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balance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)</a:t>
            </a:r>
            <a:r>
              <a:rPr kumimoji="0" lang="ru-RU" sz="1600" b="0" i="0" u="none" strike="noStrike" cap="none" normalizeH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в приватной секции, защищая их от прямого доступа извне. Для работы с этими данными предоставляются публичные</a:t>
            </a:r>
            <a:r>
              <a:rPr lang="ru-RU" sz="1600" dirty="0"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методы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deposit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() и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getBalance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(),</a:t>
            </a:r>
            <a:r>
              <a:rPr kumimoji="0" lang="ru-RU" sz="1600" b="0" i="0" u="none" strike="noStrike" cap="none" normalizeH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которые контролируют корректность операций. То</a:t>
            </a:r>
            <a:r>
              <a:rPr kumimoji="0" lang="ru-RU" sz="1600" b="0" i="0" u="none" strike="noStrike" cap="none" normalizeH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 есть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latin typeface="Bahnschrift SemiBold Condensed" pitchFamily="34" charset="0"/>
                <a:cs typeface="Arial" pitchFamily="34" charset="0"/>
              </a:rPr>
              <a:t>, пользователь класса может взаимодействовать с объектом только через безопасный интерфейс, не имея возможности напрямую изменять его внутреннее состояние.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Bahnschrift SemiBold Condensed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296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5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Преимущества и недостатки</a:t>
            </a:r>
            <a:endParaRPr lang="ru-RU" sz="2800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3725" y="1131590"/>
            <a:ext cx="84969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Преимущества инкапсуляции</a:t>
            </a:r>
            <a:r>
              <a:rPr lang="en-US" dirty="0" smtClean="0">
                <a:solidFill>
                  <a:schemeClr val="bg1"/>
                </a:solidFill>
                <a:latin typeface="Bahnschrift SemiBold Condensed" pitchFamily="34" charset="0"/>
              </a:rPr>
              <a:t>:</a:t>
            </a:r>
            <a:endParaRPr lang="ru-RU" dirty="0" smtClean="0">
              <a:solidFill>
                <a:schemeClr val="bg1"/>
              </a:solidFill>
              <a:latin typeface="Bahnschrift SemiBold Condensed" pitchFamily="34" charset="0"/>
            </a:endParaRPr>
          </a:p>
          <a:p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Инкапсуляция защищает внутренние данные объекта от несанкционированного доступа и изменений, предотвращая ошибки и повышая безопасность кода. Она упрощает поддержку, позволяя менять реализацию внутри класса без влияния на внешний код, и делает интерфейс более понятным.</a:t>
            </a:r>
            <a:b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</a:br>
            <a:endParaRPr lang="ru-RU" dirty="0" smtClean="0">
              <a:solidFill>
                <a:schemeClr val="bg1"/>
              </a:solidFill>
              <a:latin typeface="Bahnschrift SemiBold Condensed" pitchFamily="34" charset="0"/>
            </a:endParaRPr>
          </a:p>
          <a:p>
            <a:endParaRPr lang="ru-RU" dirty="0">
              <a:solidFill>
                <a:schemeClr val="bg1"/>
              </a:solidFill>
              <a:latin typeface="Bahnschrift SemiBold Condensed" pitchFamily="34" charset="0"/>
            </a:endParaRPr>
          </a:p>
          <a:p>
            <a:endParaRPr lang="ru-RU" dirty="0" smtClean="0">
              <a:solidFill>
                <a:schemeClr val="bg1"/>
              </a:solidFill>
              <a:latin typeface="Bahnschrift SemiBold Condensed" pitchFamily="34" charset="0"/>
            </a:endParaRPr>
          </a:p>
          <a:p>
            <a:endParaRPr lang="ru-RU" dirty="0" smtClean="0">
              <a:solidFill>
                <a:schemeClr val="bg1"/>
              </a:solidFill>
              <a:latin typeface="Bahnschrift SemiBold Condensed" pitchFamily="34" charset="0"/>
            </a:endParaRPr>
          </a:p>
          <a:p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Её недостатки</a:t>
            </a:r>
            <a:r>
              <a:rPr lang="en-US" dirty="0" smtClean="0">
                <a:solidFill>
                  <a:schemeClr val="bg1"/>
                </a:solidFill>
                <a:latin typeface="Bahnschrift SemiBold Condensed" pitchFamily="34" charset="0"/>
              </a:rPr>
              <a:t>: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/>
            </a:r>
            <a:b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</a:b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Инкапсуляция увеличивает объем кода за счет дополнительных методов доступа, что усложняет чтение и сопровождение. </a:t>
            </a:r>
            <a:endParaRPr lang="ru-RU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33725" y="2378085"/>
            <a:ext cx="8496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Снижает сложность: код становится модульным, легче тестировать и отлаживать.​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Повышает </a:t>
            </a:r>
            <a:r>
              <a:rPr lang="ru-RU" dirty="0" err="1" smtClean="0">
                <a:solidFill>
                  <a:schemeClr val="bg1"/>
                </a:solidFill>
                <a:latin typeface="Bahnschrift SemiBold Condensed" pitchFamily="34" charset="0"/>
              </a:rPr>
              <a:t>переиспользуемость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: объекты можно включать в другие проекты без дублирования.​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Обеспечивает контроль: геттеры и сеттеры проверяют данные перед изменениями.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33725" y="4257941"/>
            <a:ext cx="84969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Замедляет разработку: требует времени на проектирование интерфейсов.​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Риск </a:t>
            </a:r>
            <a:r>
              <a:rPr lang="ru-RU" dirty="0" err="1">
                <a:solidFill>
                  <a:schemeClr val="bg1"/>
                </a:solidFill>
                <a:latin typeface="Bahnschrift SemiBold Condensed" pitchFamily="34" charset="0"/>
              </a:rPr>
              <a:t>переусложнения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: избыточные </a:t>
            </a:r>
            <a:r>
              <a:rPr lang="ru-RU" dirty="0" err="1">
                <a:solidFill>
                  <a:schemeClr val="bg1"/>
                </a:solidFill>
                <a:latin typeface="Bahnschrift SemiBold Condensed" pitchFamily="34" charset="0"/>
              </a:rPr>
              <a:t>getter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/</a:t>
            </a:r>
            <a:r>
              <a:rPr lang="ru-RU" dirty="0" err="1">
                <a:solidFill>
                  <a:schemeClr val="bg1"/>
                </a:solidFill>
                <a:latin typeface="Bahnschrift SemiBold Condensed" pitchFamily="34" charset="0"/>
              </a:rPr>
              <a:t>setter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 могут маскировать простую логику.</a:t>
            </a:r>
          </a:p>
        </p:txBody>
      </p:sp>
    </p:spTree>
    <p:extLst>
      <p:ext uri="{BB962C8B-B14F-4D97-AF65-F5344CB8AC3E}">
        <p14:creationId xmlns:p14="http://schemas.microsoft.com/office/powerpoint/2010/main" val="1072967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Что такое наследование</a:t>
            </a:r>
            <a:r>
              <a:rPr lang="en-US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?</a:t>
            </a:r>
            <a:endParaRPr lang="ru-RU" sz="2800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2784" y="975514"/>
            <a:ext cx="8496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Наследование (</a:t>
            </a:r>
            <a:r>
              <a:rPr lang="ru-RU" dirty="0" err="1">
                <a:solidFill>
                  <a:schemeClr val="bg1"/>
                </a:solidFill>
                <a:latin typeface="Bahnschrift SemiBold Condensed" pitchFamily="34" charset="0"/>
              </a:rPr>
              <a:t>inheritance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) - это процесс, посредством которого один объект может приобретать свойства другого. Точнее, объект может наследовать основные свойства другого объекта и добавлять к ним черты, характерные только для него. Наследование является важным, поскольку оно позволяет поддерживать концепцию иерархии 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классов. При 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использовании наследования можно описать объект путём определения того общего класса (или классов), к которому он относится, с теми специальными чертами, которые делают объект уникальным.</a:t>
            </a:r>
          </a:p>
        </p:txBody>
      </p:sp>
      <p:pic>
        <p:nvPicPr>
          <p:cNvPr id="2050" name="Picture 2" descr="C:\Users\Dimazzz\Desktop\10-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646" y="2952204"/>
            <a:ext cx="3257500" cy="190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967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Пример работы наследования</a:t>
            </a:r>
            <a:endParaRPr lang="ru-RU" sz="2800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52362"/>
            <a:ext cx="3914947" cy="3277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148064" y="1771491"/>
            <a:ext cx="3507080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В этом коде создается базовый класс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Device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 с публичными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полями и методом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turn_on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(). Класс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Computer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 наследуется от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Device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 через 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приватное наследование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Bahnschrift SemiBold Condensed" pitchFamily="34" charset="0"/>
                <a:cs typeface="Arial" pitchFamily="34" charset="0"/>
              </a:rPr>
              <a:t>, что означает, что все унаследованные члены становятся приватными в классе-потомке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  <a:cs typeface="Arial" pitchFamily="34" charset="0"/>
              </a:rPr>
              <a:t>.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2967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Что такое полиморфизм</a:t>
            </a:r>
            <a:r>
              <a:rPr lang="en-US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?</a:t>
            </a:r>
            <a:endParaRPr lang="ru-RU" sz="2800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002090"/>
            <a:ext cx="84249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Полиморфизм (</a:t>
            </a:r>
            <a:r>
              <a:rPr lang="ru-RU" dirty="0" err="1">
                <a:solidFill>
                  <a:schemeClr val="bg1"/>
                </a:solidFill>
                <a:latin typeface="Bahnschrift SemiBold Condensed" pitchFamily="34" charset="0"/>
              </a:rPr>
              <a:t>polymorphism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) 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- 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это свойство, которое позволяет одно и то же имя использовать для решения двух или более схожих, но технически разных задач. Целью полиморфизма, применительно к объектно-ориентированному программированию, является использование одного имени для задания общих для класса действий. Выполнение каждого конкретного действия будет определяться типом данных. В C++ существует два основных типа полиморфизма: полиморфизм времени компиляции (статический) и полиморфизм времени выполнения (динамический). Статический полиморфизм реализуется с помощью перегрузки функций и операторов, а динамический — с помощью виртуальных функций, позволяющих вызывать правильную реализацию метода во время выполнения программы. </a:t>
            </a:r>
          </a:p>
        </p:txBody>
      </p:sp>
    </p:spTree>
    <p:extLst>
      <p:ext uri="{BB962C8B-B14F-4D97-AF65-F5344CB8AC3E}">
        <p14:creationId xmlns:p14="http://schemas.microsoft.com/office/powerpoint/2010/main" val="1072967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05979"/>
            <a:ext cx="9144000" cy="857250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chemeClr val="bg1"/>
                </a:solidFill>
                <a:latin typeface="Bahnschrift SemiBold Condensed" pitchFamily="34" charset="0"/>
              </a:rPr>
              <a:t>Динамический </a:t>
            </a:r>
            <a:r>
              <a:rPr lang="ru-RU" sz="2400" dirty="0" smtClean="0">
                <a:solidFill>
                  <a:schemeClr val="bg1"/>
                </a:solidFill>
                <a:latin typeface="Bahnschrift SemiBold Condensed" pitchFamily="34" charset="0"/>
              </a:rPr>
              <a:t>                                                   </a:t>
            </a:r>
            <a:r>
              <a:rPr lang="ru-RU" sz="2400" dirty="0" smtClean="0">
                <a:solidFill>
                  <a:schemeClr val="bg1"/>
                </a:solidFill>
                <a:latin typeface="Bahnschrift SemiBold Condensed" pitchFamily="34" charset="0"/>
              </a:rPr>
              <a:t>Статический</a:t>
            </a:r>
            <a:endParaRPr lang="ru-RU" sz="2400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cxnSp>
        <p:nvCxnSpPr>
          <p:cNvPr id="5" name="Прямая соединительная линия 4"/>
          <p:cNvCxnSpPr>
            <a:stCxn id="4" idx="2"/>
            <a:endCxn id="4" idx="0"/>
          </p:cNvCxnSpPr>
          <p:nvPr/>
        </p:nvCxnSpPr>
        <p:spPr>
          <a:xfrm flipV="1">
            <a:off x="4572000" y="0"/>
            <a:ext cx="0" cy="51435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987574"/>
            <a:ext cx="2674401" cy="34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21" y="978416"/>
            <a:ext cx="2591464" cy="34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3528" y="4515966"/>
            <a:ext cx="417646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200" dirty="0">
                <a:solidFill>
                  <a:schemeClr val="bg1"/>
                </a:solidFill>
                <a:latin typeface="Bahnschrift SemiBold Condensed" pitchFamily="34" charset="0"/>
                <a:cs typeface="Arial" pitchFamily="34" charset="0"/>
              </a:rPr>
              <a:t>А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бстрактный класс </a:t>
            </a:r>
            <a:r>
              <a:rPr kumimoji="0" lang="ru-RU" sz="12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Property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, виртуальный</a:t>
            </a:r>
            <a:r>
              <a:rPr kumimoji="0" lang="ru-RU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метод </a:t>
            </a:r>
            <a:r>
              <a:rPr kumimoji="0" lang="ru-RU" sz="12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getTax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, поле </a:t>
            </a:r>
            <a:r>
              <a:rPr kumimoji="0" lang="ru-RU" sz="12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worth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, 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три класса: </a:t>
            </a:r>
            <a:r>
              <a:rPr kumimoji="0" lang="ru-RU" sz="12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CountryHouse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, </a:t>
            </a:r>
            <a:r>
              <a:rPr kumimoji="0" lang="ru-RU" sz="12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Car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, </a:t>
            </a:r>
            <a:r>
              <a:rPr kumimoji="0" lang="ru-RU" sz="12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Apartment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ahnschrift SemiBold Condensed" pitchFamily="34" charset="0"/>
                <a:cs typeface="Arial" pitchFamily="34" charset="0"/>
              </a:rPr>
              <a:t>, которые реализуют данный метод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631312" y="4515965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Bahnschrift SemiBold Condensed" pitchFamily="34" charset="0"/>
              </a:rPr>
              <a:t>К</a:t>
            </a:r>
            <a:r>
              <a:rPr lang="ru-RU" sz="1200" dirty="0" smtClean="0">
                <a:solidFill>
                  <a:schemeClr val="bg1"/>
                </a:solidFill>
                <a:latin typeface="Bahnschrift SemiBold Condensed" pitchFamily="34" charset="0"/>
              </a:rPr>
              <a:t>омпилятор </a:t>
            </a:r>
            <a:r>
              <a:rPr lang="ru-RU" sz="1200" dirty="0" err="1">
                <a:solidFill>
                  <a:schemeClr val="bg1"/>
                </a:solidFill>
                <a:latin typeface="Bahnschrift SemiBold Condensed" pitchFamily="34" charset="0"/>
              </a:rPr>
              <a:t>инстанцировал</a:t>
            </a:r>
            <a:r>
              <a:rPr lang="ru-RU" sz="1200" dirty="0">
                <a:solidFill>
                  <a:schemeClr val="bg1"/>
                </a:solidFill>
                <a:latin typeface="Bahnschrift SemiBold Condensed" pitchFamily="34" charset="0"/>
              </a:rPr>
              <a:t> </a:t>
            </a:r>
            <a:r>
              <a:rPr lang="ru-RU" sz="1200" dirty="0" smtClean="0">
                <a:solidFill>
                  <a:schemeClr val="bg1"/>
                </a:solidFill>
                <a:latin typeface="Bahnschrift SemiBold Condensed" pitchFamily="34" charset="0"/>
              </a:rPr>
              <a:t> три </a:t>
            </a:r>
            <a:r>
              <a:rPr lang="ru-RU" sz="1200" dirty="0">
                <a:solidFill>
                  <a:schemeClr val="bg1"/>
                </a:solidFill>
                <a:latin typeface="Bahnschrift SemiBold Condensed" pitchFamily="34" charset="0"/>
              </a:rPr>
              <a:t>различных функции и подставил нужную на этапе компиляции – поэтому полиморфизм на основе шаблонов и является статическим.</a:t>
            </a:r>
            <a:endParaRPr lang="ru-RU" sz="1200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967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Вывод</a:t>
            </a:r>
            <a:endParaRPr lang="ru-RU" sz="2800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6024" y="987574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Bahnschrift SemiBold Condensed" pitchFamily="34" charset="0"/>
              </a:rPr>
              <a:t>Инкапсуляция, наследование и полиморфизм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 — это три фундаментальных принципа ООП в C++, которые тесно взаимосвязаны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:</a:t>
            </a:r>
            <a:b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</a:br>
            <a:endParaRPr lang="ru-RU" dirty="0">
              <a:solidFill>
                <a:schemeClr val="bg1"/>
              </a:solidFill>
              <a:latin typeface="Bahnschrift SemiBold Condensed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Bahnschrift SemiBold Condensed" pitchFamily="34" charset="0"/>
              </a:rPr>
              <a:t>Инкапсуляция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 создаёт "защищённые" классы с чётким интерфейсом, </a:t>
            </a:r>
            <a:r>
              <a:rPr lang="ru-RU" b="1" dirty="0">
                <a:solidFill>
                  <a:schemeClr val="bg1"/>
                </a:solidFill>
                <a:latin typeface="Bahnschrift SemiBold Condensed" pitchFamily="34" charset="0"/>
              </a:rPr>
              <a:t>наследование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 позволяет расширять эти классы, создавая иерархии, а </a:t>
            </a:r>
            <a:r>
              <a:rPr lang="ru-RU" b="1" dirty="0">
                <a:solidFill>
                  <a:schemeClr val="bg1"/>
                </a:solidFill>
                <a:latin typeface="Bahnschrift SemiBold Condensed" pitchFamily="34" charset="0"/>
              </a:rPr>
              <a:t>полиморфизм</a:t>
            </a:r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 обеспечивает работу с объектами разных классов через единый интерфейс базового класса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.</a:t>
            </a:r>
            <a:b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</a:br>
            <a:endParaRPr lang="ru-RU" dirty="0">
              <a:solidFill>
                <a:schemeClr val="bg1"/>
              </a:solidFill>
              <a:latin typeface="Bahnschrift SemiBold Condensed" pitchFamily="34" charset="0"/>
            </a:endParaRPr>
          </a:p>
          <a:p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Наследование использует инкапсуляцию — производные классы наследуют не только методы, но и структуру доступа к данным. Полиморфизм же реализуется через наследование и виртуальные функции, позволяя одинаково работать с разными типами объектов</a:t>
            </a:r>
            <a: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  <a:t>.</a:t>
            </a:r>
            <a:br>
              <a:rPr lang="ru-RU" dirty="0" smtClean="0">
                <a:solidFill>
                  <a:schemeClr val="bg1"/>
                </a:solidFill>
                <a:latin typeface="Bahnschrift SemiBold Condensed" pitchFamily="34" charset="0"/>
              </a:rPr>
            </a:br>
            <a:endParaRPr lang="ru-RU" dirty="0">
              <a:solidFill>
                <a:schemeClr val="bg1"/>
              </a:solidFill>
              <a:latin typeface="Bahnschrift SemiBold Condensed" pitchFamily="34" charset="0"/>
            </a:endParaRPr>
          </a:p>
          <a:p>
            <a:r>
              <a:rPr lang="ru-RU" dirty="0">
                <a:solidFill>
                  <a:schemeClr val="bg1"/>
                </a:solidFill>
                <a:latin typeface="Bahnschrift SemiBold Condensed" pitchFamily="34" charset="0"/>
              </a:rPr>
              <a:t>Вместе они образуют мощную систему: инкапсуляция защищает данные, наследование организует иерархию, а полиморфизм обеспечивает гибкость использования объектов разных типов через общий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1072967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Источники</a:t>
            </a:r>
            <a:r>
              <a:rPr lang="en-US" sz="2800" dirty="0" smtClean="0">
                <a:solidFill>
                  <a:schemeClr val="bg1"/>
                </a:solidFill>
                <a:latin typeface="Bahnschrift SemiBold Condensed" pitchFamily="34" charset="0"/>
              </a:rPr>
              <a:t>:</a:t>
            </a:r>
            <a:endParaRPr lang="ru-RU" sz="2800" dirty="0">
              <a:solidFill>
                <a:schemeClr val="bg1"/>
              </a:solidFill>
              <a:latin typeface="Bahnschrift SemiBold Condensed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05958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j-lt"/>
                <a:hlinkClick r:id="rId3"/>
              </a:rPr>
              <a:t>http://</a:t>
            </a:r>
            <a:r>
              <a:rPr lang="en-US" dirty="0" smtClean="0">
                <a:solidFill>
                  <a:schemeClr val="bg1"/>
                </a:solidFill>
                <a:latin typeface="+mj-lt"/>
                <a:hlinkClick r:id="rId3"/>
              </a:rPr>
              <a:t>www.codenet.ru/progr/cpp/ipn.php</a:t>
            </a:r>
            <a:r>
              <a:rPr lang="ru-RU" dirty="0" smtClean="0">
                <a:solidFill>
                  <a:schemeClr val="bg1"/>
                </a:solidFill>
                <a:latin typeface="+mj-lt"/>
              </a:rPr>
              <a:t/>
            </a:r>
            <a:br>
              <a:rPr lang="ru-RU" dirty="0" smtClean="0">
                <a:solidFill>
                  <a:schemeClr val="bg1"/>
                </a:solidFill>
                <a:latin typeface="+mj-lt"/>
              </a:rPr>
            </a:br>
            <a:r>
              <a:rPr lang="ru-RU" dirty="0" smtClean="0">
                <a:solidFill>
                  <a:schemeClr val="bg1"/>
                </a:solidFill>
                <a:latin typeface="+mj-lt"/>
              </a:rPr>
              <a:t/>
            </a:r>
            <a:br>
              <a:rPr lang="ru-RU" dirty="0" smtClean="0">
                <a:solidFill>
                  <a:schemeClr val="bg1"/>
                </a:solidFill>
                <a:latin typeface="+mj-lt"/>
              </a:rPr>
            </a:br>
            <a:r>
              <a:rPr lang="en-US" dirty="0">
                <a:solidFill>
                  <a:schemeClr val="bg1"/>
                </a:solidFill>
                <a:latin typeface="+mj-lt"/>
                <a:hlinkClick r:id="rId4"/>
              </a:rPr>
              <a:t>https://</a:t>
            </a:r>
            <a:r>
              <a:rPr lang="en-US" dirty="0" smtClean="0">
                <a:solidFill>
                  <a:schemeClr val="bg1"/>
                </a:solidFill>
                <a:latin typeface="+mj-lt"/>
                <a:hlinkClick r:id="rId4"/>
              </a:rPr>
              <a:t>java-online.ru/java-oop.xhtml</a:t>
            </a:r>
            <a:r>
              <a:rPr lang="ru-RU" dirty="0" smtClean="0">
                <a:solidFill>
                  <a:schemeClr val="bg1"/>
                </a:solidFill>
                <a:latin typeface="+mj-lt"/>
              </a:rPr>
              <a:t/>
            </a:r>
            <a:br>
              <a:rPr lang="ru-RU" dirty="0" smtClean="0">
                <a:solidFill>
                  <a:schemeClr val="bg1"/>
                </a:solidFill>
                <a:latin typeface="+mj-lt"/>
              </a:rPr>
            </a:br>
            <a:r>
              <a:rPr lang="ru-RU" dirty="0" smtClean="0">
                <a:solidFill>
                  <a:schemeClr val="bg1"/>
                </a:solidFill>
                <a:latin typeface="+mj-lt"/>
              </a:rPr>
              <a:t/>
            </a:r>
            <a:br>
              <a:rPr lang="ru-RU" dirty="0" smtClean="0">
                <a:solidFill>
                  <a:schemeClr val="bg1"/>
                </a:solidFill>
                <a:latin typeface="+mj-lt"/>
              </a:rPr>
            </a:br>
            <a:r>
              <a:rPr lang="en-US" dirty="0">
                <a:solidFill>
                  <a:schemeClr val="bg1"/>
                </a:solidFill>
                <a:latin typeface="+mj-lt"/>
              </a:rPr>
              <a:t>https://sky.pro/wiki/java/chetyre-stolpa-oop-inkapsulyaciya-nasledovanie-polimorfizm-abstrakciya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/</a:t>
            </a:r>
            <a:r>
              <a:rPr lang="ru-RU" dirty="0" smtClean="0">
                <a:solidFill>
                  <a:schemeClr val="bg1"/>
                </a:solidFill>
                <a:latin typeface="+mj-lt"/>
              </a:rPr>
              <a:t/>
            </a:r>
            <a:br>
              <a:rPr lang="ru-RU" dirty="0" smtClean="0">
                <a:solidFill>
                  <a:schemeClr val="bg1"/>
                </a:solidFill>
                <a:latin typeface="+mj-lt"/>
              </a:rPr>
            </a:br>
            <a:r>
              <a:rPr lang="ru-RU" dirty="0" smtClean="0">
                <a:solidFill>
                  <a:schemeClr val="bg1"/>
                </a:solidFill>
                <a:latin typeface="+mj-lt"/>
              </a:rPr>
              <a:t/>
            </a:r>
            <a:br>
              <a:rPr lang="ru-RU" dirty="0" smtClean="0">
                <a:solidFill>
                  <a:schemeClr val="bg1"/>
                </a:solidFill>
                <a:latin typeface="+mj-lt"/>
              </a:rPr>
            </a:br>
            <a:r>
              <a:rPr lang="en-US" dirty="0">
                <a:solidFill>
                  <a:schemeClr val="bg1"/>
                </a:solidFill>
                <a:latin typeface="+mj-lt"/>
              </a:rPr>
              <a:t>https://thecode.media/new-oop-inp/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729671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594</Words>
  <Application>Microsoft Office PowerPoint</Application>
  <PresentationFormat>Экран (16:9)</PresentationFormat>
  <Paragraphs>42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Презентация на тему  “Инкапсуляция, наследование и полиморфизм в С++”</vt:lpstr>
      <vt:lpstr>Введение</vt:lpstr>
      <vt:lpstr>Что такое инкапсуляция?</vt:lpstr>
      <vt:lpstr>Пример работы инкапсуляции</vt:lpstr>
      <vt:lpstr>Преимущества и недостатки</vt:lpstr>
      <vt:lpstr>Что такое наследование?</vt:lpstr>
      <vt:lpstr>Пример работы наследования</vt:lpstr>
      <vt:lpstr>Что такое полиморфизм?</vt:lpstr>
      <vt:lpstr>Динамический                                                    Статический</vt:lpstr>
      <vt:lpstr>Вывод</vt:lpstr>
      <vt:lpstr>Источники: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Dimazzz</dc:creator>
  <cp:lastModifiedBy>Dimazzz</cp:lastModifiedBy>
  <cp:revision>14</cp:revision>
  <dcterms:created xsi:type="dcterms:W3CDTF">2025-11-30T14:28:39Z</dcterms:created>
  <dcterms:modified xsi:type="dcterms:W3CDTF">2025-11-30T19:44:21Z</dcterms:modified>
</cp:coreProperties>
</file>